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624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88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0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1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9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33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61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7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92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94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254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70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063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275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979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171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70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F2863C0-E15D-4689-A218-7F194A3696E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DC3D5D-32BD-4DE9-8789-B34D5678D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11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8A04-FFD7-8005-1B43-622BB39C1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496" y="-884419"/>
            <a:ext cx="11422504" cy="3501311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Exploratory Data Analysis of Large-Scale Industry Performance Dataset Using Univariate, Bivariate, and Multivariate Statistical Techniques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CBDD0-7B24-6360-A586-C3E7D247E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dirty="0"/>
              <a:t>Submitted By:</a:t>
            </a:r>
            <a:endParaRPr lang="en-US" sz="8000" dirty="0"/>
          </a:p>
          <a:p>
            <a:r>
              <a:rPr lang="en-US" sz="8000" dirty="0" err="1"/>
              <a:t>V.Satish</a:t>
            </a:r>
            <a:r>
              <a:rPr lang="en-US" sz="8000" dirty="0"/>
              <a:t> </a:t>
            </a:r>
          </a:p>
          <a:p>
            <a:r>
              <a:rPr lang="en-US" sz="8000" dirty="0"/>
              <a:t>Data Analytics Internship </a:t>
            </a:r>
          </a:p>
          <a:p>
            <a:r>
              <a:rPr lang="en-US" sz="8000" dirty="0" err="1"/>
              <a:t>NextHikes</a:t>
            </a:r>
            <a:r>
              <a:rPr lang="en-US" sz="8000" dirty="0"/>
              <a:t> IT Solutions</a:t>
            </a:r>
          </a:p>
          <a:p>
            <a:r>
              <a:rPr lang="en-US" sz="8000" dirty="0"/>
              <a:t>L-110226-W2PM-B15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32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93B0-B10E-1799-B8AE-1F2283E2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BFFE5-25B6-A6FB-9456-ECA192744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objective of this project is to perform Exploratory Data Analysis (EDA) on an industry performance dataset containing 15,000 records and 12 variables.</a:t>
            </a:r>
          </a:p>
          <a:p>
            <a:r>
              <a:rPr lang="en-US" b="1" dirty="0"/>
              <a:t>Key Goals</a:t>
            </a:r>
          </a:p>
          <a:p>
            <a:r>
              <a:rPr lang="en-US" dirty="0"/>
              <a:t>Understand business data </a:t>
            </a:r>
          </a:p>
          <a:p>
            <a:r>
              <a:rPr lang="en-US" dirty="0"/>
              <a:t>Analyze company performance </a:t>
            </a:r>
          </a:p>
          <a:p>
            <a:r>
              <a:rPr lang="en-US" dirty="0"/>
              <a:t>Detect outliers </a:t>
            </a:r>
          </a:p>
          <a:p>
            <a:r>
              <a:rPr lang="en-US" dirty="0"/>
              <a:t>Study variable relationships </a:t>
            </a:r>
          </a:p>
          <a:p>
            <a:r>
              <a:rPr lang="en-US" dirty="0"/>
              <a:t>Generate business insights 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33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1C31-856E-C954-E826-C2C5DE1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919397"/>
          </a:xfrm>
        </p:spPr>
        <p:txBody>
          <a:bodyPr/>
          <a:lstStyle/>
          <a:p>
            <a:r>
              <a:rPr lang="en-IN" u="sng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9CEF29-CC23-9496-31C4-BE0110AAF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232641"/>
              </p:ext>
            </p:extLst>
          </p:nvPr>
        </p:nvGraphicFramePr>
        <p:xfrm>
          <a:off x="685799" y="1528997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37507483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2523566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23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232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7646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Numerical, Categorical,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8063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69D2E8-B453-3C13-4A51-FC0F6145D3CC}"/>
              </a:ext>
            </a:extLst>
          </p:cNvPr>
          <p:cNvSpPr txBox="1"/>
          <p:nvPr/>
        </p:nvSpPr>
        <p:spPr>
          <a:xfrm>
            <a:off x="685799" y="3316814"/>
            <a:ext cx="60935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Count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Margin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Count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 Rating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</p:txBody>
      </p:sp>
    </p:spTree>
    <p:extLst>
      <p:ext uri="{BB962C8B-B14F-4D97-AF65-F5344CB8AC3E}">
        <p14:creationId xmlns:p14="http://schemas.microsoft.com/office/powerpoint/2010/main" val="311513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6267-8BE0-75DA-47E9-954DE27F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F4C8-2B27-F566-C835-A1A234971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Python Libraries</a:t>
            </a:r>
          </a:p>
          <a:p>
            <a:r>
              <a:rPr lang="en-US" dirty="0"/>
              <a:t>Pandas </a:t>
            </a:r>
          </a:p>
          <a:p>
            <a:r>
              <a:rPr lang="en-US" dirty="0"/>
              <a:t>NumPy </a:t>
            </a:r>
          </a:p>
          <a:p>
            <a:r>
              <a:rPr lang="en-US" dirty="0"/>
              <a:t>Matplotlib </a:t>
            </a:r>
          </a:p>
          <a:p>
            <a:r>
              <a:rPr lang="en-US" dirty="0"/>
              <a:t>Seaborn 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Statistical Analysis </a:t>
            </a:r>
          </a:p>
          <a:p>
            <a:r>
              <a:rPr lang="en-US" dirty="0"/>
              <a:t>Visualization </a:t>
            </a:r>
          </a:p>
          <a:p>
            <a:r>
              <a:rPr lang="en-US" dirty="0"/>
              <a:t>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55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887F-22E9-FCE9-16F3-22082C01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Understanding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398F-73BB-534B-9B69-4AA643F7D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Activities Performed</a:t>
            </a:r>
          </a:p>
          <a:p>
            <a:r>
              <a:rPr lang="en-IN" dirty="0"/>
              <a:t>Data loading </a:t>
            </a:r>
          </a:p>
          <a:p>
            <a:r>
              <a:rPr lang="en-IN" dirty="0"/>
              <a:t>Data type verification </a:t>
            </a:r>
          </a:p>
          <a:p>
            <a:r>
              <a:rPr lang="en-IN" dirty="0"/>
              <a:t>Missing value analysis </a:t>
            </a:r>
          </a:p>
          <a:p>
            <a:r>
              <a:rPr lang="en-IN" dirty="0"/>
              <a:t>Duplicate record check </a:t>
            </a:r>
          </a:p>
          <a:p>
            <a:r>
              <a:rPr lang="en-IN" b="1" dirty="0"/>
              <a:t>Findings</a:t>
            </a:r>
          </a:p>
          <a:p>
            <a:r>
              <a:rPr lang="en-IN" dirty="0"/>
              <a:t>No missing values found </a:t>
            </a:r>
          </a:p>
          <a:p>
            <a:r>
              <a:rPr lang="en-IN" dirty="0"/>
              <a:t>No duplicate records found </a:t>
            </a:r>
          </a:p>
          <a:p>
            <a:r>
              <a:rPr lang="en-IN" dirty="0"/>
              <a:t>Dataset ready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91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0416-7450-7F96-FA17-64E81A5B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ABD91-C9F4-F1AC-883F-F61D9749C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Numerical Variables Analyzed</a:t>
            </a:r>
          </a:p>
          <a:p>
            <a:r>
              <a:rPr lang="en-US" dirty="0"/>
              <a:t>Employee Count </a:t>
            </a:r>
          </a:p>
          <a:p>
            <a:r>
              <a:rPr lang="en-US" dirty="0"/>
              <a:t>Annual Revenue </a:t>
            </a:r>
          </a:p>
          <a:p>
            <a:r>
              <a:rPr lang="en-US" dirty="0"/>
              <a:t>Profit Margin </a:t>
            </a:r>
          </a:p>
          <a:p>
            <a:r>
              <a:rPr lang="en-US" dirty="0"/>
              <a:t>Customer Count </a:t>
            </a:r>
          </a:p>
          <a:p>
            <a:r>
              <a:rPr lang="en-US" dirty="0"/>
              <a:t>Market Rating </a:t>
            </a:r>
          </a:p>
          <a:p>
            <a:r>
              <a:rPr lang="en-US" b="1" dirty="0"/>
              <a:t>Statistical Measures</a:t>
            </a:r>
          </a:p>
          <a:p>
            <a:r>
              <a:rPr lang="en-US" dirty="0"/>
              <a:t>Mean </a:t>
            </a:r>
          </a:p>
          <a:p>
            <a:r>
              <a:rPr lang="en-US" dirty="0"/>
              <a:t>Median </a:t>
            </a:r>
          </a:p>
          <a:p>
            <a:r>
              <a:rPr lang="en-US" dirty="0"/>
              <a:t>Standard Deviation </a:t>
            </a:r>
          </a:p>
          <a:p>
            <a:r>
              <a:rPr lang="en-US" dirty="0"/>
              <a:t>Min &amp; Max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5E7953-73A3-50F7-08CD-9C45B8099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589" y="2142067"/>
            <a:ext cx="8232107" cy="342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B17A-05B7-365D-C3D5-922C46B5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904407"/>
          </a:xfrm>
        </p:spPr>
        <p:txBody>
          <a:bodyPr/>
          <a:lstStyle/>
          <a:p>
            <a:r>
              <a:rPr lang="en-IN" dirty="0"/>
              <a:t>Distribution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FCEB-5C13-4D9A-D11F-7213400C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14007"/>
            <a:ext cx="10131425" cy="4277193"/>
          </a:xfrm>
        </p:spPr>
        <p:txBody>
          <a:bodyPr/>
          <a:lstStyle/>
          <a:p>
            <a:r>
              <a:rPr lang="en-US" b="1" dirty="0"/>
              <a:t>Skewness Analysis</a:t>
            </a:r>
          </a:p>
          <a:p>
            <a:r>
              <a:rPr lang="en-US" dirty="0"/>
              <a:t>Positive skewness observed in:</a:t>
            </a:r>
          </a:p>
          <a:p>
            <a:r>
              <a:rPr lang="en-US" dirty="0"/>
              <a:t>Revenue </a:t>
            </a:r>
          </a:p>
          <a:p>
            <a:r>
              <a:rPr lang="en-US" dirty="0"/>
              <a:t>Employee Count </a:t>
            </a:r>
          </a:p>
          <a:p>
            <a:r>
              <a:rPr lang="en-US" dirty="0"/>
              <a:t>Customer Count</a:t>
            </a:r>
          </a:p>
          <a:p>
            <a:endParaRPr lang="en-US" dirty="0"/>
          </a:p>
          <a:p>
            <a:r>
              <a:rPr lang="en-US" b="1" dirty="0"/>
              <a:t>Interpretation</a:t>
            </a:r>
          </a:p>
          <a:p>
            <a:r>
              <a:rPr lang="en-US" dirty="0"/>
              <a:t>Most companies operate at medium scale while a small number dominate the market.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480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48EB4A-E4FE-CBB0-8F42-1BA8D5223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445" y="3676808"/>
            <a:ext cx="6134100" cy="2928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88BDF-4C36-9D35-2A1C-95D3380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14466"/>
          </a:xfrm>
        </p:spPr>
        <p:txBody>
          <a:bodyPr/>
          <a:lstStyle/>
          <a:p>
            <a:r>
              <a:rPr lang="en-IN" dirty="0"/>
              <a:t>Outlier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21BD4-4E46-23A2-DC9A-A349C26C8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24067"/>
            <a:ext cx="10131425" cy="4367133"/>
          </a:xfrm>
        </p:spPr>
        <p:txBody>
          <a:bodyPr/>
          <a:lstStyle/>
          <a:p>
            <a:r>
              <a:rPr lang="en-US" b="1" dirty="0"/>
              <a:t>Methods Used</a:t>
            </a:r>
          </a:p>
          <a:p>
            <a:r>
              <a:rPr lang="en-US" dirty="0"/>
              <a:t>Boxplots </a:t>
            </a:r>
          </a:p>
          <a:p>
            <a:r>
              <a:rPr lang="en-US" dirty="0"/>
              <a:t>IQR Method </a:t>
            </a:r>
          </a:p>
          <a:p>
            <a:r>
              <a:rPr lang="en-US" b="1" dirty="0"/>
              <a:t>Findings</a:t>
            </a:r>
          </a:p>
          <a:p>
            <a:r>
              <a:rPr lang="en-US" dirty="0"/>
              <a:t>Revenue outliers identified </a:t>
            </a:r>
          </a:p>
          <a:p>
            <a:r>
              <a:rPr lang="en-US" dirty="0"/>
              <a:t>Employee count outliers identified </a:t>
            </a:r>
          </a:p>
          <a:p>
            <a:r>
              <a:rPr lang="en-US" dirty="0"/>
              <a:t>Customer count outliers identified </a:t>
            </a:r>
          </a:p>
          <a:p>
            <a:r>
              <a:rPr lang="en-US" b="1" dirty="0"/>
              <a:t>Decision</a:t>
            </a:r>
          </a:p>
          <a:p>
            <a:r>
              <a:rPr lang="en-US" dirty="0">
                <a:highlight>
                  <a:srgbClr val="000000"/>
                </a:highlight>
              </a:rPr>
              <a:t>Outliers retained because they represent genuine large-scale </a:t>
            </a:r>
            <a:r>
              <a:rPr lang="en-US" dirty="0"/>
              <a:t>enterprises.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515E4-3EA3-0F18-0BD8-1BBA57EF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13" y="373115"/>
            <a:ext cx="6134100" cy="318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8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0C64-CB43-1CB5-36EA-E8134E08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799475"/>
          </a:xfrm>
        </p:spPr>
        <p:txBody>
          <a:bodyPr/>
          <a:lstStyle/>
          <a:p>
            <a:r>
              <a:rPr lang="en-IN" dirty="0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2B2FF-C47F-3DF0-6067-20738D8CD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9075"/>
            <a:ext cx="10131425" cy="43821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analyze relationships between two variables.</a:t>
            </a:r>
          </a:p>
          <a:p>
            <a:r>
              <a:rPr lang="en-US" b="1" dirty="0"/>
              <a:t>Examples</a:t>
            </a:r>
          </a:p>
          <a:p>
            <a:r>
              <a:rPr lang="en-US" dirty="0"/>
              <a:t>Industry vs Revenue </a:t>
            </a:r>
          </a:p>
          <a:p>
            <a:r>
              <a:rPr lang="en-US" dirty="0"/>
              <a:t>Industry vs Profit Margin </a:t>
            </a:r>
          </a:p>
          <a:p>
            <a:r>
              <a:rPr lang="en-US" dirty="0"/>
              <a:t>Country vs Market Rating </a:t>
            </a:r>
          </a:p>
          <a:p>
            <a:r>
              <a:rPr lang="en-US" dirty="0"/>
              <a:t>Region vs Revenue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88805-ABE2-17CF-8EB4-539ECEC7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449" y="609600"/>
            <a:ext cx="6439524" cy="2916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0E935D-E1B4-3BA0-E785-6D65993D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49" y="3673994"/>
            <a:ext cx="6439524" cy="29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5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5F20-FB70-FE1A-6CE4-7CA20C2C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024328"/>
          </a:xfrm>
        </p:spPr>
        <p:txBody>
          <a:bodyPr/>
          <a:lstStyle/>
          <a:p>
            <a:r>
              <a:rPr lang="en-IN" dirty="0"/>
              <a:t>Bivariate Analysis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9A22-D40A-05E2-E7B2-79D05F6DF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28997"/>
            <a:ext cx="10131425" cy="4262203"/>
          </a:xfrm>
        </p:spPr>
        <p:txBody>
          <a:bodyPr/>
          <a:lstStyle/>
          <a:p>
            <a:r>
              <a:rPr lang="en-US" b="1" dirty="0"/>
              <a:t>Key Findings</a:t>
            </a:r>
          </a:p>
          <a:p>
            <a:r>
              <a:rPr lang="en-US" dirty="0"/>
              <a:t>Technology industry generated highest revenue. </a:t>
            </a:r>
          </a:p>
          <a:p>
            <a:r>
              <a:rPr lang="en-US" dirty="0"/>
              <a:t>Retail industry served largest customer base. </a:t>
            </a:r>
          </a:p>
          <a:p>
            <a:r>
              <a:rPr lang="en-US" dirty="0"/>
              <a:t>Market ratings varied across countries. </a:t>
            </a:r>
          </a:p>
          <a:p>
            <a:r>
              <a:rPr lang="en-US" dirty="0"/>
              <a:t>Revenue differed across regions.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D1F67-8F5D-A986-AA78-0A65E09BF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67" y="893085"/>
            <a:ext cx="547687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03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69C5-A05F-5D41-3A99-E6A34892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84C7-8D81-E62C-E684-4E586343E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To understand relationships among numerical variables.</a:t>
            </a:r>
          </a:p>
          <a:p>
            <a:r>
              <a:rPr lang="en-US" b="1" dirty="0"/>
              <a:t>Findings</a:t>
            </a:r>
          </a:p>
          <a:p>
            <a:r>
              <a:rPr lang="en-US" dirty="0"/>
              <a:t>Strong Positive Relationship:</a:t>
            </a:r>
          </a:p>
          <a:p>
            <a:r>
              <a:rPr lang="en-US" dirty="0"/>
              <a:t>Employee Count ↔ Revenue </a:t>
            </a:r>
          </a:p>
          <a:p>
            <a:r>
              <a:rPr lang="en-US" dirty="0"/>
              <a:t>Customer Count ↔ Revenue </a:t>
            </a:r>
          </a:p>
          <a:p>
            <a:r>
              <a:rPr lang="en-US" dirty="0"/>
              <a:t>Moderate Relationship:</a:t>
            </a:r>
          </a:p>
          <a:p>
            <a:r>
              <a:rPr lang="en-US" dirty="0"/>
              <a:t>Profit Margin ↔ Market Rating </a:t>
            </a:r>
          </a:p>
          <a:p>
            <a:r>
              <a:rPr lang="en-US" dirty="0"/>
              <a:t>Weak Relationship:</a:t>
            </a:r>
          </a:p>
          <a:p>
            <a:r>
              <a:rPr lang="en-US" dirty="0"/>
              <a:t>Founded Year ↔ Revenue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F719C-0EED-A067-B80B-C99BAE94F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333" y="2788170"/>
            <a:ext cx="7872343" cy="263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68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AD84-27B8-4B85-939E-BDD71430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010653"/>
          </a:xfrm>
        </p:spPr>
        <p:txBody>
          <a:bodyPr/>
          <a:lstStyle/>
          <a:p>
            <a:r>
              <a:rPr lang="en-IN" dirty="0"/>
              <a:t>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B8BE-76D5-3B29-03FA-EFA5A5407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interactions among multiple variables.</a:t>
            </a:r>
          </a:p>
          <a:p>
            <a:r>
              <a:rPr lang="en-US" b="1" dirty="0"/>
              <a:t>Scenarios Studied</a:t>
            </a:r>
          </a:p>
          <a:p>
            <a:r>
              <a:rPr lang="en-US" dirty="0"/>
              <a:t>Industry × Revenue × Employee Count </a:t>
            </a:r>
          </a:p>
          <a:p>
            <a:r>
              <a:rPr lang="en-US" dirty="0"/>
              <a:t>Region × Profit Margin × Market Rating </a:t>
            </a:r>
          </a:p>
          <a:p>
            <a:r>
              <a:rPr lang="en-US" dirty="0"/>
              <a:t>Country × Customer Count × Revenue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63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52C76-E125-F16F-995E-77BF439B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51B1-5A44-DBF2-F869-CFAD87D8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3432" y="128336"/>
            <a:ext cx="6277310" cy="1010653"/>
          </a:xfrm>
        </p:spPr>
        <p:txBody>
          <a:bodyPr/>
          <a:lstStyle/>
          <a:p>
            <a:r>
              <a:rPr lang="en-IN" dirty="0"/>
              <a:t>Multivariate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83F3A4-1C01-4EA5-1191-870E86AA5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932" y="1074821"/>
            <a:ext cx="4231247" cy="2457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840FED-AA74-618C-51F0-D7900192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4821"/>
            <a:ext cx="4358188" cy="2457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AC0CA-A6C1-8BEF-EB8B-9E9FBCFD1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31" y="3962401"/>
            <a:ext cx="4231247" cy="2582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7F7CB-C2C4-2B1D-B14E-BC627FEF1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470" y="3962401"/>
            <a:ext cx="4294718" cy="245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56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C079-D4DB-BA7D-7268-FCB2DACE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9B42-D484-C8E8-5E87-6A5A666E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3432" y="128336"/>
            <a:ext cx="6277310" cy="1010653"/>
          </a:xfrm>
        </p:spPr>
        <p:txBody>
          <a:bodyPr/>
          <a:lstStyle/>
          <a:p>
            <a:r>
              <a:rPr lang="en-IN" dirty="0"/>
              <a:t>Multivariate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5B812-4C11-C1B7-94C3-6D8C2AF9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Findings</a:t>
            </a:r>
          </a:p>
          <a:p>
            <a:r>
              <a:rPr lang="en-US" dirty="0"/>
              <a:t>Technology companies generated highest revenue. </a:t>
            </a:r>
          </a:p>
          <a:p>
            <a:r>
              <a:rPr lang="en-US" dirty="0"/>
              <a:t>Manufacturing companies maintained larger workforces. </a:t>
            </a:r>
          </a:p>
          <a:p>
            <a:r>
              <a:rPr lang="en-US" dirty="0"/>
              <a:t>Customer acquisition strongly influenced revenue. </a:t>
            </a:r>
          </a:p>
          <a:p>
            <a:r>
              <a:rPr lang="en-US" dirty="0"/>
              <a:t>Regional factors affected profitability. 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8796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6362-30A6-3CFC-CA9A-958190F8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090863"/>
          </a:xfrm>
        </p:spPr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196FC-18E4-6706-1D09-F3A1EB29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00463"/>
            <a:ext cx="10131425" cy="409073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Major Insights</a:t>
            </a:r>
          </a:p>
          <a:p>
            <a:r>
              <a:rPr lang="en-US" dirty="0"/>
              <a:t>Technology sector dominated revenue generation. </a:t>
            </a:r>
          </a:p>
          <a:p>
            <a:r>
              <a:rPr lang="en-US" dirty="0"/>
              <a:t>Retail sector handled highest customer volume. </a:t>
            </a:r>
          </a:p>
          <a:p>
            <a:r>
              <a:rPr lang="en-US" dirty="0"/>
              <a:t>Revenue increased with employee count. </a:t>
            </a:r>
          </a:p>
          <a:p>
            <a:r>
              <a:rPr lang="en-US" dirty="0"/>
              <a:t>Customer count strongly impacted revenue. </a:t>
            </a:r>
          </a:p>
          <a:p>
            <a:r>
              <a:rPr lang="en-US" dirty="0"/>
              <a:t>North America showed strong market ratings. </a:t>
            </a:r>
          </a:p>
          <a:p>
            <a:r>
              <a:rPr lang="en-US" dirty="0"/>
              <a:t>Large enterprises contributed significantly to revenue. </a:t>
            </a:r>
          </a:p>
          <a:p>
            <a:r>
              <a:rPr lang="en-US" dirty="0"/>
              <a:t>Profitability varied across industries. </a:t>
            </a:r>
          </a:p>
          <a:p>
            <a:r>
              <a:rPr lang="en-US" dirty="0"/>
              <a:t>Revenue distribution was positively skewed. </a:t>
            </a:r>
          </a:p>
          <a:p>
            <a:r>
              <a:rPr lang="en-US" dirty="0"/>
              <a:t>Outliers represented real business entities. </a:t>
            </a:r>
          </a:p>
          <a:p>
            <a:r>
              <a:rPr lang="en-US" dirty="0"/>
              <a:t>Business performance varied across 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97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628A-56C2-C0D8-6F0D-8E9721C0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F99A-6909-D8D5-2A64-4E469D201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16505"/>
            <a:ext cx="10131425" cy="40746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Successfully performed EDA on 15,000 records. </a:t>
            </a:r>
          </a:p>
          <a:p>
            <a:r>
              <a:rPr lang="en-US" dirty="0"/>
              <a:t>Conducted Univariate, Bivariate and Multivariate Analysis. </a:t>
            </a:r>
          </a:p>
          <a:p>
            <a:r>
              <a:rPr lang="en-US" dirty="0"/>
              <a:t>Identified revenue and workforce patterns. </a:t>
            </a:r>
          </a:p>
          <a:p>
            <a:r>
              <a:rPr lang="en-US" dirty="0"/>
              <a:t>Detected and analyzed outliers. </a:t>
            </a:r>
          </a:p>
          <a:p>
            <a:r>
              <a:rPr lang="en-US" dirty="0"/>
              <a:t>Generated actionable business insights. </a:t>
            </a:r>
          </a:p>
          <a:p>
            <a:r>
              <a:rPr lang="en-US" b="1" dirty="0"/>
              <a:t>Business Value</a:t>
            </a:r>
          </a:p>
          <a:p>
            <a:r>
              <a:rPr lang="en-US" dirty="0"/>
              <a:t>The analysis supports:</a:t>
            </a:r>
          </a:p>
          <a:p>
            <a:r>
              <a:rPr lang="en-US" dirty="0"/>
              <a:t>Business Intelligence </a:t>
            </a:r>
          </a:p>
          <a:p>
            <a:r>
              <a:rPr lang="en-US" dirty="0"/>
              <a:t>Industry Benchmarking </a:t>
            </a:r>
          </a:p>
          <a:p>
            <a:r>
              <a:rPr lang="en-US" dirty="0"/>
              <a:t>Revenue Forecasting </a:t>
            </a:r>
          </a:p>
          <a:p>
            <a:r>
              <a:rPr lang="en-US" dirty="0"/>
              <a:t>Strategic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382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95</TotalTime>
  <Words>491</Words>
  <Application>Microsoft Office PowerPoint</Application>
  <PresentationFormat>Widescreen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Celestial</vt:lpstr>
      <vt:lpstr>Exploratory Data Analysis of Large-Scale Industry Performance Dataset Using Univariate, Bivariate, and Multivariate Statistical Techniques</vt:lpstr>
      <vt:lpstr>Project Objective </vt:lpstr>
      <vt:lpstr>Dataset Overview</vt:lpstr>
      <vt:lpstr>Libraries Used</vt:lpstr>
      <vt:lpstr>Data Understanding &amp; Cleaning</vt:lpstr>
      <vt:lpstr>Univariate Analysis</vt:lpstr>
      <vt:lpstr>Distribution Analysis</vt:lpstr>
      <vt:lpstr>Outlier Detection</vt:lpstr>
      <vt:lpstr>Bivariate Analysis</vt:lpstr>
      <vt:lpstr>Bivariate Analysis Findings</vt:lpstr>
      <vt:lpstr>Correlation Analysis</vt:lpstr>
      <vt:lpstr>Multivariate Analysis</vt:lpstr>
      <vt:lpstr>Multivariate Analysis</vt:lpstr>
      <vt:lpstr>Multivariate Analysis</vt:lpstr>
      <vt:lpstr>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vonteddu</dc:creator>
  <cp:lastModifiedBy>satish vonteddu</cp:lastModifiedBy>
  <cp:revision>2</cp:revision>
  <dcterms:created xsi:type="dcterms:W3CDTF">2026-06-04T11:36:03Z</dcterms:created>
  <dcterms:modified xsi:type="dcterms:W3CDTF">2026-06-04T13:11:05Z</dcterms:modified>
</cp:coreProperties>
</file>